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3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der Adrian" userId="265f6e94-8d87-4c52-9609-82e4d0511147" providerId="ADAL" clId="{2CF3BA12-DB92-54F1-A4C0-2938D8AF33EC}"/>
    <pc:docChg chg="custSel modSld">
      <pc:chgData name="Buder Adrian" userId="265f6e94-8d87-4c52-9609-82e4d0511147" providerId="ADAL" clId="{2CF3BA12-DB92-54F1-A4C0-2938D8AF33EC}" dt="2026-06-30T05:58:21.612" v="3" actId="1076"/>
      <pc:docMkLst>
        <pc:docMk/>
      </pc:docMkLst>
      <pc:sldChg chg="delSp modSp mod">
        <pc:chgData name="Buder Adrian" userId="265f6e94-8d87-4c52-9609-82e4d0511147" providerId="ADAL" clId="{2CF3BA12-DB92-54F1-A4C0-2938D8AF33EC}" dt="2026-06-30T05:58:21.612" v="3" actId="1076"/>
        <pc:sldMkLst>
          <pc:docMk/>
          <pc:sldMk cId="0" sldId="256"/>
        </pc:sldMkLst>
        <pc:spChg chg="mod">
          <ac:chgData name="Buder Adrian" userId="265f6e94-8d87-4c52-9609-82e4d0511147" providerId="ADAL" clId="{2CF3BA12-DB92-54F1-A4C0-2938D8AF33EC}" dt="2026-06-30T05:58:21.612" v="3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Buder Adrian" userId="265f6e94-8d87-4c52-9609-82e4d0511147" providerId="ADAL" clId="{2CF3BA12-DB92-54F1-A4C0-2938D8AF33EC}" dt="2026-06-30T05:58:16.483" v="2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Buder Adrian" userId="265f6e94-8d87-4c52-9609-82e4d0511147" providerId="ADAL" clId="{2CF3BA12-DB92-54F1-A4C0-2938D8AF33EC}" dt="2026-06-30T05:58:13.372" v="1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Buder Adrian" userId="265f6e94-8d87-4c52-9609-82e4d0511147" providerId="ADAL" clId="{2CF3BA12-DB92-54F1-A4C0-2938D8AF33EC}" dt="2026-06-30T05:58:11.557" v="0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Buder Adrian" userId="265f6e94-8d87-4c52-9609-82e4d0511147" providerId="ADAL" clId="{2CF3BA12-DB92-54F1-A4C0-2938D8AF33EC}" dt="2026-06-30T05:58:11.557" v="0" actId="478"/>
          <ac:spMkLst>
            <pc:docMk/>
            <pc:sldMk cId="0" sldId="256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318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Titel und Auftraggeber illwerke vkw nennen, Team und Betreuer kurz vorstellen. Ein Satz zum Thema: automatische Früherkennung von Sensorfehlern im Wasserkraftwerk.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Auftraggeber illwerke vkw AG kurz einordnen: regionaler Energieversorger in Vorarlberg. Entscheidend ist der Anlass — Thomas Kraxner hat konkreten Bedarf für eine automatische Anomalieerkennung geäußert. Das ist der Ausgangspunkt der Arbeit.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und Betreuung mit klar verteilten Rollen. Aaron verantwortet Theorie, Doku und Projektmanagement; Adrian die Implementierung, Algorithmen und das Dashboard. Fachliche Begleitung durch den Auftraggeber, schulische Betreuung durch die HTL.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Ausgangslage: Fünf Sensorkategorien werden rund um die Uhr erfasst und archiviert, Grenzwertalarme für Extremwerte gibt es. Was fehlt, ist die automatische Mustererkennung — schleichende Fehler werden heute nicht erkannt. Diese Lücke (amber) ist der Ansatzpunkt.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Kernproblem: Sensorfehler bleiben unentdeckt und verfälschen Betriebsentscheidungen; manuelle Kontrolle bei hunderten Sensoren skaliert nicht. Rechts die vier Fehlertypen, die das System erkennen muss: Spike, Drift, Frozen, Dropout.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messbare Ziele mit konkreten Kennzahlen: Erkennung mindestens 90 Prozent bei höchstens 10 Prozent False Positives, ein Dashboard mit Reaktionszeit unter einer Minute über alle fünf Kategorien, und die wissenschaftliche Dokumentation mit Abgabe im April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Sechs Meilensteine von Kick-Off bis Abgabe: M1 Projektauftrag und Pflichtenheft, M2 synthetischer Datensatz, M3 Algorithmen, M4 Dashboard-Prototyp, M5 Evaluation, M6 Abgabe und Abschlusspräsentation im April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Zeitplan über zehn Monate, Juli 2026 bis April 2027. Parallele Arbeitspakete: Aaron auf Theorie und Dokumentation, Adrian auf Implementierung und Evaluation, mit gemeinsamer Abgabe im April. Danke — gerne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71427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310" dirty="0">
                <a:solidFill>
                  <a:srgbClr val="6FB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VORPRÄSENTATION · DIPLOMARBEIT 2025/26</a:t>
            </a:r>
            <a:endParaRPr lang="en-US" sz="1725" dirty="0"/>
          </a:p>
        </p:txBody>
      </p:sp>
      <p:sp>
        <p:nvSpPr>
          <p:cNvPr id="3" name="Text 1"/>
          <p:cNvSpPr/>
          <p:nvPr/>
        </p:nvSpPr>
        <p:spPr>
          <a:xfrm>
            <a:off x="11034192" y="819150"/>
            <a:ext cx="67218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79" dirty="0">
                <a:solidFill>
                  <a:srgbClr val="7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HTL Dornbirn — 5. Jg. Wirtschaftsingenieurwesen</a:t>
            </a:r>
            <a:endParaRPr lang="en-US" sz="1575" dirty="0"/>
          </a:p>
        </p:txBody>
      </p:sp>
      <p:sp>
        <p:nvSpPr>
          <p:cNvPr id="19" name="Text 1"/>
          <p:cNvSpPr/>
          <p:nvPr/>
        </p:nvSpPr>
        <p:spPr>
          <a:xfrm>
            <a:off x="11034192" y="819150"/>
            <a:ext cx="67218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79" dirty="0">
                <a:solidFill>
                  <a:srgbClr val="7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HTL Dornbirn — 5. Jg. Wirtschaftsingenieurwesen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1143000" y="3048000"/>
            <a:ext cx="176022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D8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ILLWERKE VKW AG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3605213"/>
            <a:ext cx="14519910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0" b="1" kern="0" spc="-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Digitales Frühwarnsystem für Sensorfehler im Wasserkraftwerk</a:t>
            </a:r>
            <a:endParaRPr lang="en-US" sz="7500" dirty="0"/>
          </a:p>
        </p:txBody>
      </p:sp>
      <p:sp>
        <p:nvSpPr>
          <p:cNvPr id="6" name="Text 4"/>
          <p:cNvSpPr/>
          <p:nvPr/>
        </p:nvSpPr>
        <p:spPr>
          <a:xfrm>
            <a:off x="1198426" y="6977063"/>
            <a:ext cx="17602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0" dirty="0">
                <a:solidFill>
                  <a:srgbClr val="AEC4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Anomalieerkennung mit PCA und Schwellenwertverfahren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43000" y="8553450"/>
            <a:ext cx="16002000" cy="9525"/>
          </a:xfrm>
          <a:prstGeom prst="rect">
            <a:avLst/>
          </a:prstGeom>
          <a:solidFill>
            <a:srgbClr val="2A55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143000" y="8867775"/>
            <a:ext cx="16209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6F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PROJEKTLEITER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143000" y="9144000"/>
            <a:ext cx="16209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Aaron Frick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283297" y="8867775"/>
            <a:ext cx="18702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6F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PROJEKTMITGLIED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3283297" y="9144000"/>
            <a:ext cx="18702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Adrian Buder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50260" y="8867775"/>
            <a:ext cx="198933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6F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BETREUER HTL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5650260" y="9144000"/>
            <a:ext cx="19893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Hannes Stauss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125495" y="8867775"/>
            <a:ext cx="22006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6F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BETREUER AG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8125495" y="9144000"/>
            <a:ext cx="22006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Kraxner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5900202" y="9215438"/>
            <a:ext cx="136927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99" dirty="0">
                <a:solidFill>
                  <a:srgbClr val="7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Juni 2026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47775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143000" y="742950"/>
            <a:ext cx="32489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AUFTRAGGEBER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182600" y="781050"/>
            <a:ext cx="43586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Frühwarnsystem · Wasserkraftwerk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3501405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950" b="1" kern="0" spc="-99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illwerke vkw AG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1143000" y="4263405"/>
            <a:ext cx="107918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Regionaler Energieversorger in Vorarlberg — Auftraggeber und fachlicher Partner dieser Diplomarbeit.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43000" y="5539755"/>
            <a:ext cx="16002000" cy="9525"/>
          </a:xfrm>
          <a:prstGeom prst="rect">
            <a:avLst/>
          </a:prstGeom>
          <a:solidFill>
            <a:srgbClr val="D8DC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133975" y="5549280"/>
            <a:ext cx="9525" cy="1488728"/>
          </a:xfrm>
          <a:prstGeom prst="rect">
            <a:avLst/>
          </a:prstGeom>
          <a:solidFill>
            <a:srgbClr val="D8DC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143000" y="5873130"/>
            <a:ext cx="397097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SITZ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6230317"/>
            <a:ext cx="3970973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Bregenz, Vorarlberg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34475" y="5549280"/>
            <a:ext cx="9525" cy="1488728"/>
          </a:xfrm>
          <a:prstGeom prst="rect">
            <a:avLst/>
          </a:prstGeom>
          <a:solidFill>
            <a:srgbClr val="D8DC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524500" y="5873130"/>
            <a:ext cx="355187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MITARBEITENDE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524500" y="6230317"/>
            <a:ext cx="3551873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1.700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3134975" y="5549280"/>
            <a:ext cx="9525" cy="1488728"/>
          </a:xfrm>
          <a:prstGeom prst="rect">
            <a:avLst/>
          </a:prstGeom>
          <a:solidFill>
            <a:srgbClr val="D8DC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9525000" y="5873130"/>
            <a:ext cx="355187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GRÜNDUNG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525000" y="6230317"/>
            <a:ext cx="3325844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· Fusion Illwerke + vkw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525500" y="5873130"/>
            <a:ext cx="398145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GESCHÄFTSFELDER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525500" y="6230317"/>
            <a:ext cx="398145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 · Netze · Telekom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43000" y="9282113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143000" y="9482138"/>
            <a:ext cx="491714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Diplomarbeit 2025/26 · illwerke vkw AG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6321534" y="9482138"/>
            <a:ext cx="8996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08</a:t>
            </a:r>
            <a:endParaRPr lang="en-US" sz="1425" dirty="0"/>
          </a:p>
        </p:txBody>
      </p:sp>
      <p:sp>
        <p:nvSpPr>
          <p:cNvPr id="22" name="Shape 17"/>
          <p:cNvSpPr/>
          <p:nvPr/>
        </p:nvSpPr>
        <p:spPr>
          <a:xfrm>
            <a:off x="1143000" y="9282113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18"/>
          <p:cNvSpPr/>
          <p:nvPr/>
        </p:nvSpPr>
        <p:spPr>
          <a:xfrm>
            <a:off x="1143000" y="9482138"/>
            <a:ext cx="491714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Diplomarbeit 2025/26 · illwerke vkw AG</a:t>
            </a:r>
            <a:endParaRPr lang="en-US" sz="1425" dirty="0"/>
          </a:p>
        </p:txBody>
      </p:sp>
      <p:sp>
        <p:nvSpPr>
          <p:cNvPr id="24" name="Text 19"/>
          <p:cNvSpPr/>
          <p:nvPr/>
        </p:nvSpPr>
        <p:spPr>
          <a:xfrm>
            <a:off x="16321534" y="9482138"/>
            <a:ext cx="8996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08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47775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143000" y="742950"/>
            <a:ext cx="30577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PROJEKTTEAM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182600" y="781050"/>
            <a:ext cx="43586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Frühwarnsystem · Wasserkraftwerk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3333750"/>
            <a:ext cx="842391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PROJEKTTEAM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143000" y="3814763"/>
            <a:ext cx="7658100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E0E2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1476375" y="4229100"/>
            <a:ext cx="742950" cy="742950"/>
          </a:xfrm>
          <a:prstGeom prst="ellipse">
            <a:avLst/>
          </a:prstGeom>
          <a:solidFill>
            <a:srgbClr val="0F4A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438275" y="4229100"/>
            <a:ext cx="819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486025" y="4110038"/>
            <a:ext cx="51163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Aaron Frick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86025" y="4510088"/>
            <a:ext cx="511637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Projektleiter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86025" y="4805363"/>
            <a:ext cx="51163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Theoretische Grundlagen · Projektmanagement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143000" y="5634038"/>
            <a:ext cx="7658100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E0E2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1476375" y="6048375"/>
            <a:ext cx="742950" cy="742950"/>
          </a:xfrm>
          <a:prstGeom prst="ellipse">
            <a:avLst/>
          </a:prstGeom>
          <a:solidFill>
            <a:srgbClr val="0F4A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438275" y="6048375"/>
            <a:ext cx="819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486025" y="5929313"/>
            <a:ext cx="478044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Adrian Buder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486025" y="6329363"/>
            <a:ext cx="4780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Projektmitglied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486025" y="6624638"/>
            <a:ext cx="47804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Implementierung · Algorithmen · Dashboard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9486900" y="3333750"/>
            <a:ext cx="842391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BETREUUNG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9486900" y="3814763"/>
            <a:ext cx="7658100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E0E2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9820275" y="4229100"/>
            <a:ext cx="742950" cy="742950"/>
          </a:xfrm>
          <a:prstGeom prst="ellipse">
            <a:avLst/>
          </a:prstGeom>
          <a:solidFill>
            <a:srgbClr val="E6EDF0"/>
          </a:solidFill>
          <a:ln w="9525">
            <a:solidFill>
              <a:srgbClr val="C9D6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9791700" y="42386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829925" y="4110038"/>
            <a:ext cx="42377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Kraxner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829925" y="4510088"/>
            <a:ext cx="42377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761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Betreuer illwerke vkw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829925" y="4805363"/>
            <a:ext cx="423773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Fachliche Begleitung vom Auftraggeber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9486900" y="5634038"/>
            <a:ext cx="7658100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E0E2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9820275" y="6048375"/>
            <a:ext cx="742950" cy="742950"/>
          </a:xfrm>
          <a:prstGeom prst="ellipse">
            <a:avLst/>
          </a:prstGeom>
          <a:solidFill>
            <a:srgbClr val="E6EDF0"/>
          </a:solidFill>
          <a:ln w="9525">
            <a:solidFill>
              <a:srgbClr val="C9D6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9791700" y="60579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829925" y="5929313"/>
            <a:ext cx="414786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Hannes Stauss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0829925" y="6329363"/>
            <a:ext cx="41478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761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Betreuer HTL Dornbirn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829925" y="6624638"/>
            <a:ext cx="41478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Schulische Betreuung &amp; Begutachtung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1143000" y="9282113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1143000" y="9482138"/>
            <a:ext cx="491714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Diplomarbeit 2025/26 · illwerke vkw AG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6321534" y="9482138"/>
            <a:ext cx="8996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08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47775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143000" y="742950"/>
            <a:ext cx="42044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AUSGANGSSITUATION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182600" y="781050"/>
            <a:ext cx="43586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Frühwarnsystem · Wasserkraftwerk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2789858"/>
            <a:ext cx="136207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b="1" kern="0" spc="-87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fehlt die automatische Früherkennung.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143000" y="3821534"/>
            <a:ext cx="1760220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ÜBERWACHT — 5 SENSORKATEGORIEN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43000" y="5245522"/>
            <a:ext cx="16002000" cy="9525"/>
          </a:xfrm>
          <a:prstGeom prst="rect">
            <a:avLst/>
          </a:prstGeom>
          <a:solidFill>
            <a:srgbClr val="D8DC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1143000" y="4216822"/>
            <a:ext cx="16002000" cy="9525"/>
          </a:xfrm>
          <a:prstGeom prst="rect">
            <a:avLst/>
          </a:prstGeom>
          <a:solidFill>
            <a:srgbClr val="D8DC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143000" y="4416847"/>
            <a:ext cx="3042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Durchfluss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143000" y="4807372"/>
            <a:ext cx="3042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m³/s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75745" y="4226347"/>
            <a:ext cx="9525" cy="1019175"/>
          </a:xfrm>
          <a:prstGeom prst="rect">
            <a:avLst/>
          </a:prstGeom>
          <a:solidFill>
            <a:srgbClr val="D8DC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451970" y="4416847"/>
            <a:ext cx="30427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Drehzahl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4451970" y="4807372"/>
            <a:ext cx="304273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84790" y="4226347"/>
            <a:ext cx="9525" cy="1019175"/>
          </a:xfrm>
          <a:prstGeom prst="rect">
            <a:avLst/>
          </a:prstGeom>
          <a:solidFill>
            <a:srgbClr val="D8DC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761015" y="4416847"/>
            <a:ext cx="3042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7761015" y="4807372"/>
            <a:ext cx="3042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°C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793760" y="4226347"/>
            <a:ext cx="9525" cy="1019175"/>
          </a:xfrm>
          <a:prstGeom prst="rect">
            <a:avLst/>
          </a:prstGeom>
          <a:solidFill>
            <a:srgbClr val="D8DC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11069985" y="4416847"/>
            <a:ext cx="3042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1069985" y="4807372"/>
            <a:ext cx="3042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mm/s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4102730" y="4226347"/>
            <a:ext cx="9525" cy="1019175"/>
          </a:xfrm>
          <a:prstGeom prst="rect">
            <a:avLst/>
          </a:prstGeom>
          <a:solidFill>
            <a:srgbClr val="D8DC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14378955" y="4416847"/>
            <a:ext cx="3042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Druck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14378955" y="4807372"/>
            <a:ext cx="3042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43000" y="5712247"/>
            <a:ext cx="7848600" cy="20373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2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1533525" y="6045622"/>
            <a:ext cx="777430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5761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VORHANDEN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533525" y="6488534"/>
            <a:ext cx="2946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923380" y="6488534"/>
            <a:ext cx="3819131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dirty="0">
                <a:solidFill>
                  <a:srgbClr val="2C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Sensordaten 24/7 archiviert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1533525" y="7057132"/>
            <a:ext cx="2946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F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923380" y="7057132"/>
            <a:ext cx="4658313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dirty="0">
                <a:solidFill>
                  <a:srgbClr val="2C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Grenzwertalarme für Extremwerte</a:t>
            </a:r>
            <a:endParaRPr lang="en-US" sz="2175" dirty="0"/>
          </a:p>
        </p:txBody>
      </p:sp>
      <p:sp>
        <p:nvSpPr>
          <p:cNvPr id="29" name="Shape 27"/>
          <p:cNvSpPr/>
          <p:nvPr/>
        </p:nvSpPr>
        <p:spPr>
          <a:xfrm>
            <a:off x="9296400" y="5712247"/>
            <a:ext cx="7848600" cy="2037308"/>
          </a:xfrm>
          <a:prstGeom prst="rect">
            <a:avLst/>
          </a:prstGeom>
          <a:solidFill>
            <a:srgbClr val="F4EBD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9296400" y="7740030"/>
            <a:ext cx="7848600" cy="9525"/>
          </a:xfrm>
          <a:prstGeom prst="rect">
            <a:avLst/>
          </a:prstGeom>
          <a:solidFill>
            <a:srgbClr val="E6CF9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9296400" y="5712247"/>
            <a:ext cx="7848600" cy="9525"/>
          </a:xfrm>
          <a:prstGeom prst="rect">
            <a:avLst/>
          </a:prstGeom>
          <a:solidFill>
            <a:srgbClr val="E6CF9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9296400" y="5712247"/>
            <a:ext cx="38100" cy="2037308"/>
          </a:xfrm>
          <a:prstGeom prst="rect">
            <a:avLst/>
          </a:prstGeom>
          <a:solidFill>
            <a:srgbClr val="BE7A1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17135475" y="5712247"/>
            <a:ext cx="9525" cy="2037308"/>
          </a:xfrm>
          <a:prstGeom prst="rect">
            <a:avLst/>
          </a:prstGeom>
          <a:solidFill>
            <a:srgbClr val="E6CF9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9715500" y="6045622"/>
            <a:ext cx="774287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142" dirty="0">
                <a:solidFill>
                  <a:srgbClr val="BE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FEHLT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9715500" y="6459959"/>
            <a:ext cx="294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BE7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0104760" y="6459959"/>
            <a:ext cx="445023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dirty="0">
                <a:solidFill>
                  <a:srgbClr val="3A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 Mustererkennung</a:t>
            </a:r>
            <a:endParaRPr lang="en-US" sz="2175" dirty="0"/>
          </a:p>
        </p:txBody>
      </p:sp>
      <p:sp>
        <p:nvSpPr>
          <p:cNvPr id="37" name="Text 35"/>
          <p:cNvSpPr/>
          <p:nvPr/>
        </p:nvSpPr>
        <p:spPr>
          <a:xfrm>
            <a:off x="9715500" y="7028557"/>
            <a:ext cx="294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BE7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0104760" y="7028557"/>
            <a:ext cx="509795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dirty="0">
                <a:solidFill>
                  <a:srgbClr val="3A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Früherkennung schleichender Fehler</a:t>
            </a:r>
            <a:endParaRPr lang="en-US" sz="2175" dirty="0"/>
          </a:p>
        </p:txBody>
      </p:sp>
      <p:sp>
        <p:nvSpPr>
          <p:cNvPr id="39" name="Shape 37"/>
          <p:cNvSpPr/>
          <p:nvPr/>
        </p:nvSpPr>
        <p:spPr>
          <a:xfrm>
            <a:off x="1143000" y="9282113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1143000" y="9482138"/>
            <a:ext cx="491714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Diplomarbeit 2025/26 · illwerke vkw AG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16321534" y="9482138"/>
            <a:ext cx="8996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08</a:t>
            </a:r>
            <a:endParaRPr lang="en-US" sz="1425" dirty="0"/>
          </a:p>
        </p:txBody>
      </p:sp>
      <p:sp>
        <p:nvSpPr>
          <p:cNvPr id="42" name="Shape 28"/>
          <p:cNvSpPr/>
          <p:nvPr/>
        </p:nvSpPr>
        <p:spPr>
          <a:xfrm>
            <a:off x="9296400" y="7740030"/>
            <a:ext cx="7848600" cy="9525"/>
          </a:xfrm>
          <a:prstGeom prst="rect">
            <a:avLst/>
          </a:prstGeom>
          <a:solidFill>
            <a:srgbClr val="E6CF9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Shape 29"/>
          <p:cNvSpPr/>
          <p:nvPr/>
        </p:nvSpPr>
        <p:spPr>
          <a:xfrm>
            <a:off x="9296400" y="5712247"/>
            <a:ext cx="7848600" cy="9525"/>
          </a:xfrm>
          <a:prstGeom prst="rect">
            <a:avLst/>
          </a:prstGeom>
          <a:solidFill>
            <a:srgbClr val="E6CF9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Shape 30"/>
          <p:cNvSpPr/>
          <p:nvPr/>
        </p:nvSpPr>
        <p:spPr>
          <a:xfrm>
            <a:off x="9296400" y="5712247"/>
            <a:ext cx="38100" cy="2037308"/>
          </a:xfrm>
          <a:prstGeom prst="rect">
            <a:avLst/>
          </a:prstGeom>
          <a:solidFill>
            <a:srgbClr val="BE7A1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Shape 31"/>
          <p:cNvSpPr/>
          <p:nvPr/>
        </p:nvSpPr>
        <p:spPr>
          <a:xfrm>
            <a:off x="17135475" y="5712247"/>
            <a:ext cx="9525" cy="2037308"/>
          </a:xfrm>
          <a:prstGeom prst="rect">
            <a:avLst/>
          </a:prstGeom>
          <a:solidFill>
            <a:srgbClr val="E6CF9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6" name="Text 32"/>
          <p:cNvSpPr/>
          <p:nvPr/>
        </p:nvSpPr>
        <p:spPr>
          <a:xfrm>
            <a:off x="9715500" y="6045622"/>
            <a:ext cx="774287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142" dirty="0">
                <a:solidFill>
                  <a:srgbClr val="BE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FEHLT</a:t>
            </a:r>
            <a:endParaRPr lang="en-US" sz="1425" dirty="0"/>
          </a:p>
        </p:txBody>
      </p:sp>
      <p:sp>
        <p:nvSpPr>
          <p:cNvPr id="47" name="Text 33"/>
          <p:cNvSpPr/>
          <p:nvPr/>
        </p:nvSpPr>
        <p:spPr>
          <a:xfrm>
            <a:off x="9715500" y="6459959"/>
            <a:ext cx="294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BE7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50" dirty="0"/>
          </a:p>
        </p:txBody>
      </p:sp>
      <p:sp>
        <p:nvSpPr>
          <p:cNvPr id="48" name="Text 34"/>
          <p:cNvSpPr/>
          <p:nvPr/>
        </p:nvSpPr>
        <p:spPr>
          <a:xfrm>
            <a:off x="10104760" y="6459959"/>
            <a:ext cx="445023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dirty="0">
                <a:solidFill>
                  <a:srgbClr val="3A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 Mustererkennung</a:t>
            </a:r>
            <a:endParaRPr lang="en-US" sz="2175" dirty="0"/>
          </a:p>
        </p:txBody>
      </p:sp>
      <p:sp>
        <p:nvSpPr>
          <p:cNvPr id="49" name="Text 35"/>
          <p:cNvSpPr/>
          <p:nvPr/>
        </p:nvSpPr>
        <p:spPr>
          <a:xfrm>
            <a:off x="9715500" y="7028557"/>
            <a:ext cx="294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BE7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50" dirty="0"/>
          </a:p>
        </p:txBody>
      </p:sp>
      <p:sp>
        <p:nvSpPr>
          <p:cNvPr id="50" name="Text 36"/>
          <p:cNvSpPr/>
          <p:nvPr/>
        </p:nvSpPr>
        <p:spPr>
          <a:xfrm>
            <a:off x="10104760" y="7028557"/>
            <a:ext cx="509795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dirty="0">
                <a:solidFill>
                  <a:srgbClr val="3A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Früherkennung schleichender Fehler</a:t>
            </a:r>
            <a:endParaRPr lang="en-US" sz="2175" dirty="0"/>
          </a:p>
        </p:txBody>
      </p:sp>
      <p:sp>
        <p:nvSpPr>
          <p:cNvPr id="51" name="Shape 37"/>
          <p:cNvSpPr/>
          <p:nvPr/>
        </p:nvSpPr>
        <p:spPr>
          <a:xfrm>
            <a:off x="1143000" y="9282113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2" name="Text 38"/>
          <p:cNvSpPr/>
          <p:nvPr/>
        </p:nvSpPr>
        <p:spPr>
          <a:xfrm>
            <a:off x="1143000" y="9482138"/>
            <a:ext cx="491714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Diplomarbeit 2025/26 · illwerke vkw AG</a:t>
            </a:r>
            <a:endParaRPr lang="en-US" sz="1425" dirty="0"/>
          </a:p>
        </p:txBody>
      </p:sp>
      <p:sp>
        <p:nvSpPr>
          <p:cNvPr id="53" name="Text 39"/>
          <p:cNvSpPr/>
          <p:nvPr/>
        </p:nvSpPr>
        <p:spPr>
          <a:xfrm>
            <a:off x="16321534" y="9482138"/>
            <a:ext cx="8996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08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47775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143000" y="742950"/>
            <a:ext cx="38222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PROBLEMSTELLUNG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182600" y="781050"/>
            <a:ext cx="43586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Frühwarnsystem · Wasserkraftwerk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3585195"/>
            <a:ext cx="6592824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b="1" kern="0" spc="-96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Sensorfehler bleiben unentdeckt.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5376937"/>
            <a:ext cx="85725" cy="85725"/>
          </a:xfrm>
          <a:prstGeom prst="ellipse">
            <a:avLst/>
          </a:prstGeom>
          <a:solidFill>
            <a:srgbClr val="BE7A1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400175" y="5234062"/>
            <a:ext cx="6327934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dirty="0">
                <a:solidFill>
                  <a:srgbClr val="2C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Fehlerhafte Messwerte beeinflussen Betriebsentscheidungen.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143000" y="6351315"/>
            <a:ext cx="85725" cy="85725"/>
          </a:xfrm>
          <a:prstGeom prst="ellipse">
            <a:avLst/>
          </a:prstGeom>
          <a:solidFill>
            <a:srgbClr val="BE7A1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400175" y="6208440"/>
            <a:ext cx="6327934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dirty="0">
                <a:solidFill>
                  <a:srgbClr val="2C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Manuelle Kontrolle bei hunderten Sensoren ist nicht skalierbar.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8458200" y="3008040"/>
            <a:ext cx="955548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ANOMALIE-TYPEN, DIE ERKANNT WERDEN MÜSSEN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58200" y="3441427"/>
            <a:ext cx="4229100" cy="1930673"/>
          </a:xfrm>
          <a:prstGeom prst="rect">
            <a:avLst/>
          </a:prstGeom>
          <a:solidFill>
            <a:srgbClr val="FFFFFF"/>
          </a:solidFill>
          <a:ln w="9525">
            <a:solidFill>
              <a:srgbClr val="E0E2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791575" y="3736702"/>
            <a:ext cx="39185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BE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8791575" y="4308202"/>
            <a:ext cx="391858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8791575" y="4779690"/>
            <a:ext cx="391858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Kurzzeitiger Ausreißer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915900" y="3441427"/>
            <a:ext cx="4229100" cy="1930673"/>
          </a:xfrm>
          <a:prstGeom prst="rect">
            <a:avLst/>
          </a:prstGeom>
          <a:solidFill>
            <a:srgbClr val="FFFFFF"/>
          </a:solidFill>
          <a:ln w="9525">
            <a:solidFill>
              <a:srgbClr val="E0E2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3249275" y="3736702"/>
            <a:ext cx="39185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BE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3249275" y="4308202"/>
            <a:ext cx="391858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13249275" y="4779690"/>
            <a:ext cx="391858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Schleichende Abweichung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458200" y="5600700"/>
            <a:ext cx="4229100" cy="1930673"/>
          </a:xfrm>
          <a:prstGeom prst="rect">
            <a:avLst/>
          </a:prstGeom>
          <a:solidFill>
            <a:srgbClr val="FFFFFF"/>
          </a:solidFill>
          <a:ln w="9525">
            <a:solidFill>
              <a:srgbClr val="E0E2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8791575" y="5895975"/>
            <a:ext cx="39185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BE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8791575" y="6467475"/>
            <a:ext cx="391858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</a:t>
            </a:r>
            <a:endParaRPr lang="en-US" sz="2325" dirty="0"/>
          </a:p>
        </p:txBody>
      </p:sp>
      <p:sp>
        <p:nvSpPr>
          <p:cNvPr id="22" name="Text 20"/>
          <p:cNvSpPr/>
          <p:nvPr/>
        </p:nvSpPr>
        <p:spPr>
          <a:xfrm>
            <a:off x="8791575" y="6938963"/>
            <a:ext cx="391858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Konstanter, falscher Wert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915900" y="5600700"/>
            <a:ext cx="4229100" cy="1930673"/>
          </a:xfrm>
          <a:prstGeom prst="rect">
            <a:avLst/>
          </a:prstGeom>
          <a:solidFill>
            <a:srgbClr val="FFFFFF"/>
          </a:solidFill>
          <a:ln w="9525">
            <a:solidFill>
              <a:srgbClr val="E0E2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13249275" y="5895975"/>
            <a:ext cx="39185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BE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3450" dirty="0"/>
          </a:p>
        </p:txBody>
      </p:sp>
      <p:sp>
        <p:nvSpPr>
          <p:cNvPr id="25" name="Text 23"/>
          <p:cNvSpPr/>
          <p:nvPr/>
        </p:nvSpPr>
        <p:spPr>
          <a:xfrm>
            <a:off x="13249275" y="6467475"/>
            <a:ext cx="391858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2325" dirty="0"/>
          </a:p>
        </p:txBody>
      </p:sp>
      <p:sp>
        <p:nvSpPr>
          <p:cNvPr id="26" name="Text 24"/>
          <p:cNvSpPr/>
          <p:nvPr/>
        </p:nvSpPr>
        <p:spPr>
          <a:xfrm>
            <a:off x="13249275" y="6938963"/>
            <a:ext cx="391858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Datenverlust / Ausfall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43000" y="9282113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1143000" y="9482138"/>
            <a:ext cx="491714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Diplomarbeit 2025/26 · illwerke vkw AG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6321534" y="9482138"/>
            <a:ext cx="8996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08</a:t>
            </a:r>
            <a:endParaRPr lang="en-US" sz="1425" dirty="0"/>
          </a:p>
        </p:txBody>
      </p:sp>
      <p:sp>
        <p:nvSpPr>
          <p:cNvPr id="30" name="Text 26"/>
          <p:cNvSpPr/>
          <p:nvPr/>
        </p:nvSpPr>
        <p:spPr>
          <a:xfrm>
            <a:off x="1143000" y="9482138"/>
            <a:ext cx="491714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Diplomarbeit 2025/26 · illwerke vkw AG</a:t>
            </a:r>
            <a:endParaRPr lang="en-US" sz="1425" dirty="0"/>
          </a:p>
        </p:txBody>
      </p:sp>
      <p:sp>
        <p:nvSpPr>
          <p:cNvPr id="31" name="Text 27"/>
          <p:cNvSpPr/>
          <p:nvPr/>
        </p:nvSpPr>
        <p:spPr>
          <a:xfrm>
            <a:off x="16321534" y="9482138"/>
            <a:ext cx="8996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08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47775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143000" y="742950"/>
            <a:ext cx="30577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ZIELSETZUNG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182600" y="781050"/>
            <a:ext cx="43586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Frühwarnsystem · Wasserkraftwerk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2947020"/>
            <a:ext cx="1760220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b="1" kern="0" spc="-87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am Ende funktionieren soll.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1143000" y="4131097"/>
            <a:ext cx="16002000" cy="9525"/>
          </a:xfrm>
          <a:prstGeom prst="rect">
            <a:avLst/>
          </a:prstGeom>
          <a:solidFill>
            <a:srgbClr val="D8DC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6467475" y="4140622"/>
            <a:ext cx="9525" cy="3451771"/>
          </a:xfrm>
          <a:prstGeom prst="rect">
            <a:avLst/>
          </a:prstGeom>
          <a:solidFill>
            <a:srgbClr val="D8DC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143000" y="4559722"/>
            <a:ext cx="5354003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300" dirty="0">
                <a:solidFill>
                  <a:srgbClr val="C3CB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1143000" y="5508352"/>
            <a:ext cx="5013293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 Anomalieerkennung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143000" y="6525592"/>
            <a:ext cx="3065636" cy="476250"/>
          </a:xfrm>
          <a:prstGeom prst="rect">
            <a:avLst/>
          </a:prstGeom>
          <a:solidFill>
            <a:srgbClr val="E6ED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295400" y="6620842"/>
            <a:ext cx="28528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Detektionsrate ≥ 90 %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143000" y="7116142"/>
            <a:ext cx="3065636" cy="476250"/>
          </a:xfrm>
          <a:prstGeom prst="rect">
            <a:avLst/>
          </a:prstGeom>
          <a:solidFill>
            <a:srgbClr val="E6ED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295400" y="7211392"/>
            <a:ext cx="28528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False-Positive ≤ 10 %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11801475" y="4140622"/>
            <a:ext cx="9525" cy="3451771"/>
          </a:xfrm>
          <a:prstGeom prst="rect">
            <a:avLst/>
          </a:prstGeom>
          <a:solidFill>
            <a:srgbClr val="D8DC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934200" y="4559722"/>
            <a:ext cx="4851083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300" dirty="0">
                <a:solidFill>
                  <a:srgbClr val="C3CB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6300" dirty="0"/>
          </a:p>
        </p:txBody>
      </p:sp>
      <p:sp>
        <p:nvSpPr>
          <p:cNvPr id="16" name="Text 14"/>
          <p:cNvSpPr/>
          <p:nvPr/>
        </p:nvSpPr>
        <p:spPr>
          <a:xfrm>
            <a:off x="6934200" y="5508352"/>
            <a:ext cx="4542377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Interaktives Sensor-Dashboard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6934200" y="6525592"/>
            <a:ext cx="3065190" cy="476250"/>
          </a:xfrm>
          <a:prstGeom prst="rect">
            <a:avLst/>
          </a:prstGeom>
          <a:solidFill>
            <a:srgbClr val="E6ED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086600" y="6620842"/>
            <a:ext cx="28523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Reaktionszeit &lt; 1 min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6934200" y="7116142"/>
            <a:ext cx="3328095" cy="476250"/>
          </a:xfrm>
          <a:prstGeom prst="rect">
            <a:avLst/>
          </a:prstGeom>
          <a:solidFill>
            <a:srgbClr val="E6ED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7086600" y="7211392"/>
            <a:ext cx="31231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alle 5 Sensorkategorien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12268200" y="4559722"/>
            <a:ext cx="536448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300" dirty="0">
                <a:solidFill>
                  <a:srgbClr val="C3CB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6300" dirty="0"/>
          </a:p>
        </p:txBody>
      </p:sp>
      <p:sp>
        <p:nvSpPr>
          <p:cNvPr id="22" name="Text 20"/>
          <p:cNvSpPr/>
          <p:nvPr/>
        </p:nvSpPr>
        <p:spPr>
          <a:xfrm>
            <a:off x="12268200" y="5508352"/>
            <a:ext cx="5023104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Wissenschaftliche Dokumentation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12268200" y="6525592"/>
            <a:ext cx="2670870" cy="476250"/>
          </a:xfrm>
          <a:prstGeom prst="rect">
            <a:avLst/>
          </a:prstGeom>
          <a:solidFill>
            <a:srgbClr val="F4EBD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12420600" y="6620842"/>
            <a:ext cx="24461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BE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Abgabe: April 2027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143000" y="9282113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1143000" y="9482138"/>
            <a:ext cx="491714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Diplomarbeit 2025/26 · illwerke vkw AG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6321534" y="9482138"/>
            <a:ext cx="8996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08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47775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143000" y="742950"/>
            <a:ext cx="32489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MEILENSTEINE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182600" y="781050"/>
            <a:ext cx="43586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Frühwarnsystem · Wasserkraftwerk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3640931"/>
            <a:ext cx="1760220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b="1" kern="0" spc="-87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Sechs Meilensteine bis zur Abgabe.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1143000" y="5015508"/>
            <a:ext cx="16002000" cy="19050"/>
          </a:xfrm>
          <a:prstGeom prst="rect">
            <a:avLst/>
          </a:prstGeom>
          <a:solidFill>
            <a:srgbClr val="D8DC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1143000" y="4748808"/>
            <a:ext cx="533400" cy="533400"/>
          </a:xfrm>
          <a:prstGeom prst="ellipse">
            <a:avLst/>
          </a:prstGeom>
          <a:solidFill>
            <a:srgbClr val="0F4A5E"/>
          </a:solidFill>
          <a:ln/>
          <a:effectLst>
            <a:outerShdw blurRad="101600" dist="50800" dir="16200000" algn="bl" rotWithShape="0">
              <a:srgbClr val="F2F3EF">
                <a:alpha val="10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104900" y="474880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43000" y="5453658"/>
            <a:ext cx="26717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Aug–Sep 26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5872758"/>
            <a:ext cx="26717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6353770"/>
            <a:ext cx="250507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Projektauftrag · Pflichtenheft · PSP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3857625" y="4748808"/>
            <a:ext cx="533400" cy="533400"/>
          </a:xfrm>
          <a:prstGeom prst="ellipse">
            <a:avLst/>
          </a:prstGeom>
          <a:solidFill>
            <a:srgbClr val="0F4A5E"/>
          </a:solidFill>
          <a:ln/>
          <a:effectLst>
            <a:outerShdw blurRad="101600" dist="50800" dir="16200000" algn="bl" rotWithShape="0">
              <a:srgbClr val="F2F3EF">
                <a:alpha val="10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819525" y="474880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857625" y="5453658"/>
            <a:ext cx="26717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Okt 26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57625" y="5872758"/>
            <a:ext cx="26717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Datengenerierung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857625" y="6353770"/>
            <a:ext cx="250507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Synthetischer Datensatz · 4 Anomalie-Typen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572250" y="4748808"/>
            <a:ext cx="533400" cy="533400"/>
          </a:xfrm>
          <a:prstGeom prst="ellipse">
            <a:avLst/>
          </a:prstGeom>
          <a:solidFill>
            <a:srgbClr val="0F4A5E"/>
          </a:solidFill>
          <a:ln/>
          <a:effectLst>
            <a:outerShdw blurRad="101600" dist="50800" dir="16200000" algn="bl" rotWithShape="0">
              <a:srgbClr val="F2F3EF">
                <a:alpha val="10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534150" y="474880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72250" y="5453658"/>
            <a:ext cx="26717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 26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72250" y="5872758"/>
            <a:ext cx="26717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Algorithmen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572250" y="6353770"/>
            <a:ext cx="250507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· EWMA · z-Score implementiert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286875" y="4748808"/>
            <a:ext cx="533400" cy="533400"/>
          </a:xfrm>
          <a:prstGeom prst="ellipse">
            <a:avLst/>
          </a:prstGeom>
          <a:solidFill>
            <a:srgbClr val="0F4A5E"/>
          </a:solidFill>
          <a:ln/>
          <a:effectLst>
            <a:outerShdw blurRad="101600" dist="50800" dir="16200000" algn="bl" rotWithShape="0">
              <a:srgbClr val="F2F3EF">
                <a:alpha val="10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9248775" y="474880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286875" y="5453658"/>
            <a:ext cx="26717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Dez 26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86875" y="5872758"/>
            <a:ext cx="26717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286875" y="6353770"/>
            <a:ext cx="250507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Streamlit-App · Prototyp fertig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2001500" y="4748808"/>
            <a:ext cx="533400" cy="533400"/>
          </a:xfrm>
          <a:prstGeom prst="ellipse">
            <a:avLst/>
          </a:prstGeom>
          <a:solidFill>
            <a:srgbClr val="0F4A5E"/>
          </a:solidFill>
          <a:ln/>
          <a:effectLst>
            <a:outerShdw blurRad="101600" dist="50800" dir="16200000" algn="bl" rotWithShape="0">
              <a:srgbClr val="F2F3EF">
                <a:alpha val="10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11963400" y="474880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001500" y="5453658"/>
            <a:ext cx="26717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Jan–Mär 27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001500" y="5872758"/>
            <a:ext cx="26717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2001500" y="6353770"/>
            <a:ext cx="250507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· Kennzahlen · DA-Überarbeitung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4716125" y="4748808"/>
            <a:ext cx="533400" cy="533400"/>
          </a:xfrm>
          <a:prstGeom prst="ellipse">
            <a:avLst/>
          </a:prstGeom>
          <a:solidFill>
            <a:srgbClr val="BE7A14"/>
          </a:solidFill>
          <a:ln/>
          <a:effectLst>
            <a:outerShdw blurRad="101600" dist="50800" dir="16200000" algn="bl" rotWithShape="0">
              <a:srgbClr val="F2F3EF">
                <a:alpha val="10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14678025" y="474880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4716125" y="5453658"/>
            <a:ext cx="26717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E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 27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4716125" y="5872758"/>
            <a:ext cx="26717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Abgabe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4716125" y="6353770"/>
            <a:ext cx="250507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Einreichung DA · Abschlusspräsentation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143000" y="9282113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1143000" y="9482138"/>
            <a:ext cx="491714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Diplomarbeit 2025/26 · illwerke vkw AG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6321534" y="9482138"/>
            <a:ext cx="8996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08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47775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143000" y="742950"/>
            <a:ext cx="24844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ZEITPLAN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792325" y="781050"/>
            <a:ext cx="25879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2026 – Apr 2027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3475881"/>
            <a:ext cx="1760220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81" dirty="0">
                <a:solidFill>
                  <a:srgbClr val="15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 2026 – April 2027.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3264694" y="4353669"/>
            <a:ext cx="151923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4645819" y="4353669"/>
            <a:ext cx="151923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6026944" y="4353669"/>
            <a:ext cx="151923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408069" y="4353669"/>
            <a:ext cx="151923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Okt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8789194" y="4353669"/>
            <a:ext cx="151923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0170319" y="4353669"/>
            <a:ext cx="151923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Dez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1551444" y="4353669"/>
            <a:ext cx="151923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2932569" y="4353669"/>
            <a:ext cx="151923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Feb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4313694" y="4353669"/>
            <a:ext cx="151923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Mär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5694819" y="4353669"/>
            <a:ext cx="151923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143000" y="4841825"/>
            <a:ext cx="24098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0F4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AARON FRICK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43000" y="5108525"/>
            <a:ext cx="240982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 · Dokumentation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3333750" y="4834682"/>
            <a:ext cx="13811250" cy="514350"/>
          </a:xfrm>
          <a:prstGeom prst="rect">
            <a:avLst/>
          </a:prstGeom>
          <a:solidFill>
            <a:srgbClr val="E4E6E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3333750" y="4834682"/>
            <a:ext cx="1329630" cy="514350"/>
          </a:xfrm>
          <a:prstGeom prst="roundRect">
            <a:avLst>
              <a:gd name="adj" fmla="val 9259"/>
            </a:avLst>
          </a:prstGeom>
          <a:solidFill>
            <a:srgbClr val="0F4A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371850" y="4834682"/>
            <a:ext cx="1253430" cy="552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EA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Recherche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4720530" y="4834682"/>
            <a:ext cx="2716560" cy="514350"/>
          </a:xfrm>
          <a:prstGeom prst="roundRect">
            <a:avLst>
              <a:gd name="adj" fmla="val 9259"/>
            </a:avLst>
          </a:prstGeom>
          <a:solidFill>
            <a:srgbClr val="0F4A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775032" y="4834682"/>
            <a:ext cx="2607557" cy="552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Pflichtenheft · PSP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4240" y="4834682"/>
            <a:ext cx="4103340" cy="514350"/>
          </a:xfrm>
          <a:prstGeom prst="roundRect">
            <a:avLst>
              <a:gd name="adj" fmla="val 9259"/>
            </a:avLst>
          </a:prstGeom>
          <a:solidFill>
            <a:srgbClr val="0F4A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7527940" y="4834682"/>
            <a:ext cx="4035940" cy="552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Theorieteil · Kap. 1–3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654730" y="4834682"/>
            <a:ext cx="4103415" cy="514350"/>
          </a:xfrm>
          <a:prstGeom prst="roundRect">
            <a:avLst>
              <a:gd name="adj" fmla="val 9259"/>
            </a:avLst>
          </a:prstGeom>
          <a:solidFill>
            <a:srgbClr val="0F4A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11688429" y="4834682"/>
            <a:ext cx="4036017" cy="552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Kap. 4 · DA-Überarbeitung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5815295" y="4834682"/>
            <a:ext cx="1329705" cy="514350"/>
          </a:xfrm>
          <a:prstGeom prst="roundRect">
            <a:avLst>
              <a:gd name="adj" fmla="val 9259"/>
            </a:avLst>
          </a:prstGeom>
          <a:solidFill>
            <a:srgbClr val="BE7A1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15777195" y="4834682"/>
            <a:ext cx="140590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43000" y="5596682"/>
            <a:ext cx="24098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2E7C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ADRIAN BUDER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143000" y="5863382"/>
            <a:ext cx="22669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Implementierung · Evaluation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3333750" y="5706219"/>
            <a:ext cx="13811250" cy="514350"/>
          </a:xfrm>
          <a:prstGeom prst="rect">
            <a:avLst/>
          </a:prstGeom>
          <a:solidFill>
            <a:srgbClr val="E4E6E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3333750" y="5706219"/>
            <a:ext cx="4103340" cy="514350"/>
          </a:xfrm>
          <a:prstGeom prst="roundRect">
            <a:avLst>
              <a:gd name="adj" fmla="val 9259"/>
            </a:avLst>
          </a:prstGeom>
          <a:solidFill>
            <a:srgbClr val="2E7C9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3367450" y="5706219"/>
            <a:ext cx="4035940" cy="552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Sensorik-Einarbeitung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4240" y="5706219"/>
            <a:ext cx="1329705" cy="514350"/>
          </a:xfrm>
          <a:prstGeom prst="roundRect">
            <a:avLst>
              <a:gd name="adj" fmla="val 9259"/>
            </a:avLst>
          </a:prstGeom>
          <a:solidFill>
            <a:srgbClr val="2E7C9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7513290" y="5706219"/>
            <a:ext cx="1291605" cy="552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81095" y="5706219"/>
            <a:ext cx="2716485" cy="514350"/>
          </a:xfrm>
          <a:prstGeom prst="roundRect">
            <a:avLst>
              <a:gd name="adj" fmla="val 9259"/>
            </a:avLst>
          </a:prstGeom>
          <a:solidFill>
            <a:srgbClr val="2E7C9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8935598" y="5706219"/>
            <a:ext cx="2607480" cy="552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Algorithmen · Prototyp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1654730" y="5706219"/>
            <a:ext cx="4103415" cy="514350"/>
          </a:xfrm>
          <a:prstGeom prst="roundRect">
            <a:avLst>
              <a:gd name="adj" fmla="val 9259"/>
            </a:avLst>
          </a:prstGeom>
          <a:solidFill>
            <a:srgbClr val="2E7C9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11688429" y="5706219"/>
            <a:ext cx="4036017" cy="552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 · Evaluation · Kennzahlen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5815295" y="5706219"/>
            <a:ext cx="1329705" cy="514350"/>
          </a:xfrm>
          <a:prstGeom prst="roundRect">
            <a:avLst>
              <a:gd name="adj" fmla="val 9259"/>
            </a:avLst>
          </a:prstGeom>
          <a:solidFill>
            <a:srgbClr val="BE7A1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15777195" y="5706219"/>
            <a:ext cx="140590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143000" y="6839694"/>
            <a:ext cx="247650" cy="133350"/>
          </a:xfrm>
          <a:prstGeom prst="roundRect">
            <a:avLst>
              <a:gd name="adj" fmla="val 21429"/>
            </a:avLst>
          </a:prstGeom>
          <a:solidFill>
            <a:srgbClr val="0F4A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1504950" y="6775400"/>
            <a:ext cx="109433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Aaron Frick</a:t>
            </a:r>
            <a:endParaRPr lang="en-US" sz="1575" dirty="0"/>
          </a:p>
        </p:txBody>
      </p:sp>
      <p:sp>
        <p:nvSpPr>
          <p:cNvPr id="44" name="Shape 42"/>
          <p:cNvSpPr/>
          <p:nvPr/>
        </p:nvSpPr>
        <p:spPr>
          <a:xfrm>
            <a:off x="2904083" y="6839694"/>
            <a:ext cx="247650" cy="133350"/>
          </a:xfrm>
          <a:prstGeom prst="roundRect">
            <a:avLst>
              <a:gd name="adj" fmla="val 21429"/>
            </a:avLst>
          </a:prstGeom>
          <a:solidFill>
            <a:srgbClr val="2E7C9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3266033" y="6775400"/>
            <a:ext cx="125499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Adrian Buder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4825826" y="6749207"/>
            <a:ext cx="285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BE7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5149676" y="6775400"/>
            <a:ext cx="330614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7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Abgabe Diplomarbeit · April 2027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1143000" y="9282113"/>
            <a:ext cx="16002000" cy="9525"/>
          </a:xfrm>
          <a:prstGeom prst="rect">
            <a:avLst/>
          </a:prstGeom>
          <a:solidFill>
            <a:srgbClr val="E0E2D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1143000" y="9482138"/>
            <a:ext cx="491714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Diplomarbeit 2025/26 · illwerke vkw AG</a:t>
            </a:r>
            <a:endParaRPr lang="en-US" sz="1425" dirty="0"/>
          </a:p>
        </p:txBody>
      </p:sp>
      <p:sp>
        <p:nvSpPr>
          <p:cNvPr id="50" name="Text 48"/>
          <p:cNvSpPr/>
          <p:nvPr/>
        </p:nvSpPr>
        <p:spPr>
          <a:xfrm>
            <a:off x="16321534" y="9482138"/>
            <a:ext cx="8996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1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08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Microsoft Macintosh PowerPoint</Application>
  <PresentationFormat>Benutzerdefiniert</PresentationFormat>
  <Paragraphs>202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Buder Adrian</cp:lastModifiedBy>
  <cp:revision>1</cp:revision>
  <dcterms:created xsi:type="dcterms:W3CDTF">2026-06-30T05:41:30Z</dcterms:created>
  <dcterms:modified xsi:type="dcterms:W3CDTF">2026-06-30T05:58:22Z</dcterms:modified>
</cp:coreProperties>
</file>